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" cy="4114800"/>
          </a:xfrm>
          <a:prstGeom prst="rect">
            <a:avLst/>
          </a:prstGeom>
          <a:solidFill>
            <a:srgbClr val="EE4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SHOPEE AI HELP CENTER ASSISTANT</a:t>
            </a:r>
          </a:p>
          <a:p>
            <a:pPr>
              <a:spcBef>
                <a:spcPts val="1500"/>
              </a:spcBef>
              <a:defRPr sz="2200">
                <a:solidFill>
                  <a:srgbClr val="EE4D2D"/>
                </a:solidFill>
              </a:defRPr>
            </a:pPr>
            <a:r>
              <a:t>Hệ thống RAG Tìm kiếm Hybrid Kết hợp Sinh câu trả lời có Trích dẫn Nguồn</a:t>
            </a:r>
          </a:p>
          <a:p>
            <a:pPr>
              <a:spcBef>
                <a:spcPts val="3000"/>
              </a:spcBef>
              <a:defRPr sz="1600">
                <a:solidFill>
                  <a:srgbClr val="64748B"/>
                </a:solidFill>
              </a:defRPr>
            </a:pPr>
            <a:r>
              <a:t>Nhóm Thực Hiện: Tên Nhóm Là Sao | Diễn giả: Nguyễn Hùng Mạnh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E4D2D"/>
                </a:solidFill>
              </a:defRPr>
            </a:pPr>
            <a:r>
              <a:t>SHOPEE RAG AI DỰ ÁN K4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BỐI CẢNH DỰ ÁN &amp; THÁCH THỨC ĐẶT 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⚠️ Thách Thức của CSKH TMĐT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• Hàng triệu câu hỏi trùng lặp về đổi trả, thanh toán, gian lận mỗi ngày.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• LLM thuần túy bị 'Bịa đặt' (Hallucination) và không có tri thức Shopee.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• LLM thuần túy không thể chỉ ra căn cứ điều khoản trích dẫn nguồn.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• Tìm kiếm từ khóa truyền thống không hiểu được ý định tự nhiên của khách.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EE4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EE4D2D"/>
                </a:solidFill>
              </a:defRPr>
            </a:pPr>
            <a:r>
              <a:t>🎯 Mục Tiêu Giải Pháp RAG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• Chính xác 100%: Trả lời hoàn toàn dựa trên kho tri thức Shopee chính thức.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• Trích dẫn minh chứng: Tự động gắn tag nguồn [Document X | Source: ...].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• Phản hồi siêu tốc: Retrieval trong &lt; 0.05 giây nhờ Pre-warming RAM.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• Streaming thời gian thực: Hiển thị chữ gõ mượt mà từng từ như ChatGPT.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E4D2D"/>
                </a:solidFill>
              </a:defRPr>
            </a:pPr>
            <a:r>
              <a:t>SHOPEE RAG AI DỰ ÁN K4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KIẾN TRÚC TỔNG QUAN HỆ THỐNG RAG 10 TASKS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2103120"/>
          </a:xfrm>
          <a:prstGeom prst="roundRect">
            <a:avLst/>
          </a:prstGeom>
          <a:solidFill>
            <a:srgbClr val="F1F5F9"/>
          </a:solidFill>
          <a:ln>
            <a:solidFill>
              <a:srgbClr val="EE4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1. Data Engineering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Task 1-3: Crawl News &amp; PDF Legal Cleaning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371600"/>
            <a:ext cx="3291840" cy="2103120"/>
          </a:xfrm>
          <a:prstGeom prst="roundRect">
            <a:avLst/>
          </a:prstGeom>
          <a:solidFill>
            <a:srgbClr val="F1F5F9"/>
          </a:solidFill>
          <a:ln>
            <a:solidFill>
              <a:srgbClr val="EE4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2. Vector Indexing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Task 4: Recursive Chunking 800/100 &amp; BAAI/bge-m3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371600"/>
            <a:ext cx="3291840" cy="2103120"/>
          </a:xfrm>
          <a:prstGeom prst="roundRect">
            <a:avLst/>
          </a:prstGeom>
          <a:solidFill>
            <a:srgbClr val="0F172A"/>
          </a:solidFill>
          <a:ln>
            <a:solidFill>
              <a:srgbClr val="EE4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E4D2D"/>
                </a:solidFill>
              </a:defRPr>
            </a:pPr>
            <a:r>
              <a:t>3. Dense Search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Task 5: Vector Similarity + HyDE Generator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3291840" cy="2103120"/>
          </a:xfrm>
          <a:prstGeom prst="roundRect">
            <a:avLst/>
          </a:prstGeom>
          <a:solidFill>
            <a:srgbClr val="0F172A"/>
          </a:solidFill>
          <a:ln>
            <a:solidFill>
              <a:srgbClr val="EE4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E4D2D"/>
                </a:solidFill>
              </a:defRPr>
            </a:pPr>
            <a:r>
              <a:t>4. Sparse Search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Task 6: BM25Okapi Exact Keyword Match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3840480"/>
            <a:ext cx="3291840" cy="2103120"/>
          </a:xfrm>
          <a:prstGeom prst="roundRect">
            <a:avLst/>
          </a:prstGeom>
          <a:solidFill>
            <a:srgbClr val="0F172A"/>
          </a:solidFill>
          <a:ln>
            <a:solidFill>
              <a:srgbClr val="EE4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E4D2D"/>
                </a:solidFill>
              </a:defRPr>
            </a:pPr>
            <a:r>
              <a:t>5. Rank Fusion</a:t>
            </a:r>
          </a:p>
          <a:p>
            <a:pPr>
              <a:spcBef>
                <a:spcPts val="1000"/>
              </a:spcBef>
              <a:defRPr sz="1300">
                <a:solidFill>
                  <a:srgbClr val="FFFFFF"/>
                </a:solidFill>
              </a:defRPr>
            </a:pPr>
            <a:r>
              <a:t>Task 7-9: RRF Fusion (k=60) + PageIndex Fallback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3840480"/>
            <a:ext cx="3291840" cy="2103120"/>
          </a:xfrm>
          <a:prstGeom prst="roundRect">
            <a:avLst/>
          </a:prstGeom>
          <a:solidFill>
            <a:srgbClr val="F1F5F9"/>
          </a:solidFill>
          <a:ln>
            <a:solidFill>
              <a:srgbClr val="EE4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6. Generation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Task 10: Citation Prompt + 4-Tier Fallback Chain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E4D2D"/>
                </a:solidFill>
              </a:defRPr>
            </a:pPr>
            <a:r>
              <a:t>SHOPEE RAG AI DỰ ÁN K4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LÀM SẠCH VÀ CHUẨN HÓA DỮ LIỆU (TASK 1 - TASK 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1F5F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📂 Nguồn Dữ Liệu Thực Tế</a:t>
            </a:r>
          </a:p>
          <a:p>
            <a:pPr>
              <a:spcBef>
                <a:spcPts val="1400"/>
              </a:spcBef>
              <a:defRPr sz="1400">
                <a:solidFill>
                  <a:srgbClr val="1E293B"/>
                </a:solidFill>
              </a:defRPr>
            </a:pPr>
            <a:r>
              <a:t>• 3 Văn bản Pháp luật PDF chính thức của Shopee (Phương thức thanh toán, Chính sách bảo mật, Trả hàng hoàn tiền).</a:t>
            </a:r>
          </a:p>
          <a:p>
            <a:pPr>
              <a:spcBef>
                <a:spcPts val="1400"/>
              </a:spcBef>
              <a:defRPr sz="1400">
                <a:solidFill>
                  <a:srgbClr val="1E293B"/>
                </a:solidFill>
              </a:defRPr>
            </a:pPr>
            <a:r>
              <a:t>• 5 Bài viết Tin tức hỗ trợ crawl từ help.shopee.vn (Format JSON).</a:t>
            </a:r>
          </a:p>
          <a:p>
            <a:pPr>
              <a:spcBef>
                <a:spcPts val="1400"/>
              </a:spcBef>
              <a:defRPr sz="1400">
                <a:solidFill>
                  <a:srgbClr val="1E293B"/>
                </a:solidFill>
              </a:defRPr>
            </a:pPr>
            <a:r>
              <a:t>• Tổng cộng 8 tài liệu gốc được chuyển sang Markdown (.md).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F1F5F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E4D2D"/>
                </a:solidFill>
              </a:defRPr>
            </a:pPr>
            <a:r>
              <a:t>✨ Kỹ Thuật Cleaning Đột Phá</a:t>
            </a:r>
          </a:p>
          <a:p>
            <a:pPr>
              <a:spcBef>
                <a:spcPts val="1400"/>
              </a:spcBef>
              <a:defRPr sz="1400">
                <a:solidFill>
                  <a:srgbClr val="1E293B"/>
                </a:solidFill>
              </a:defRPr>
            </a:pPr>
            <a:r>
              <a:t>• Loại bỏ 100% ký tự điều khiển ngắt trang PDF (\x0c).</a:t>
            </a:r>
          </a:p>
          <a:p>
            <a:pPr>
              <a:spcBef>
                <a:spcPts val="1400"/>
              </a:spcBef>
              <a:defRPr sz="1400">
                <a:solidFill>
                  <a:srgbClr val="1E293B"/>
                </a:solidFill>
              </a:defRPr>
            </a:pPr>
            <a:r>
              <a:t>• Loại bỏ các dòng Header/Footer lặp lại (Trang X | Nguon...).</a:t>
            </a:r>
          </a:p>
          <a:p>
            <a:pPr>
              <a:spcBef>
                <a:spcPts val="1400"/>
              </a:spcBef>
              <a:defRPr sz="1400">
                <a:solidFill>
                  <a:srgbClr val="1E293B"/>
                </a:solidFill>
              </a:defRPr>
            </a:pPr>
            <a:r>
              <a:t>• Tự động nối liền các câu bị ngắt dòng giữa chừng do định dạng PDF.</a:t>
            </a:r>
          </a:p>
          <a:p>
            <a:pPr>
              <a:spcBef>
                <a:spcPts val="1400"/>
              </a:spcBef>
              <a:defRPr sz="1400">
                <a:solidFill>
                  <a:srgbClr val="1E293B"/>
                </a:solidFill>
              </a:defRPr>
            </a:pPr>
            <a:r>
              <a:t>• Bảo toàn nguyên vẹn cấu trúc câu văn giúp Chunking đạt hiệu quả tối đa.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E4D2D"/>
                </a:solidFill>
              </a:defRPr>
            </a:pPr>
            <a:r>
              <a:t>SHOPEE RAG AI DỰ ÁN K4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CẮT ĐOẠN CHUNK &amp; METADATA ĐA CHIỀU (TASK 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1645920"/>
          </a:xfrm>
          <a:prstGeom prst="round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EE4D2D"/>
                </a:solidFill>
              </a:defRPr>
            </a:pPr>
            <a:r>
              <a:t>141 Chunks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Tổng số Chunks trong CSDL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291840" cy="1645920"/>
          </a:xfrm>
          <a:prstGeom prst="round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EE4D2D"/>
                </a:solidFill>
              </a:defRPr>
            </a:pPr>
            <a:r>
              <a:t>800 / 100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CHUNK_SIZE / OVERLAP (Chars)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291840" cy="1645920"/>
          </a:xfrm>
          <a:prstGeom prst="round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EE4D2D"/>
                </a:solidFill>
              </a:defRPr>
            </a:pPr>
            <a:r>
              <a:t>1024 Dim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BAAI/bge-m3 Embedding Vector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10607040" cy="2834640"/>
          </a:xfrm>
          <a:prstGeom prst="roundRect">
            <a:avLst/>
          </a:prstGeom>
          <a:solidFill>
            <a:srgbClr val="F1F5F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🏷️ Phân Loại Metadata Theo Vai Trò Khách Hàng (Customer Role)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🛒 buyer (Người Mua): 22 chunks — Hướng dẫn thanh toán, theo dõi đơn hàng, áp mã giảm giá.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🏪 seller (Người Bán): 39 chunks — Quy định xử phạt gian lận, chính sách Người Bán vi phạm.</a:t>
            </a:r>
          </a:p>
          <a:p>
            <a:pPr>
              <a:spcBef>
                <a:spcPts val="1000"/>
              </a:spcBef>
              <a:defRPr sz="1400">
                <a:solidFill>
                  <a:srgbClr val="1E293B"/>
                </a:solidFill>
              </a:defRPr>
            </a:pPr>
            <a:r>
              <a:t>• 🤝 both (Cả Hai): 80 chunks — Chính sách bảo mật, chính sách đổi trả hoàn tiền chung.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E4D2D"/>
                </a:solidFill>
              </a:defRPr>
            </a:pPr>
            <a:r>
              <a:t>SHOPEE RAG AI DỰ ÁN K4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ĐỘNG CƠ TÌM KIẾM DENSE VÀ SPARSE (TASK 5 &amp; TASK 6)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1F5F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E4D2D"/>
                </a:solidFill>
              </a:defRPr>
            </a:pPr>
            <a:r>
              <a:t>🧠 Dense Search + HyDE (Task 5)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• Tìm kiếm theo Tương đồng Ngữ nghĩa bằng Cosine Similarity trong ChromaDB.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• Công nghệ HyDE (Hypothetical Document Embeddings): Dùng LLM sinh ra tài liệu giả định trước.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• Dùng Vector tài liệu giả định đi quét CSDL ➔ Giúp hiểu câu hỏi tự nhiên ngay cả khi không trùng từ khóa.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F1F5F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🔤 Sparse Lexical Search (Task 6)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• Sử dụng thuật toán BM25Okapi tính tần suất xuất hiện từ khóa chính xác.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• Giải quyết triệt để điểm yếu của Vector Search đối với các từ khóa hiếm hoặc mã chính sách.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• Đảm bảo tìm chính xác 100% các từ khóa như SPayLater, NAPAS, Apple Pay, COD.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E4D2D"/>
                </a:solidFill>
              </a:defRPr>
            </a:pPr>
            <a:r>
              <a:t>SHOPEE RAG AI DỰ ÁN K4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HỢP NHẤT RRF &amp; CHỐNG LẠC ĐỀ (TASK 7 - TASK 9)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07040" cy="2011680"/>
          </a:xfrm>
          <a:prstGeom prst="round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E4D2D"/>
                </a:solidFill>
              </a:defRPr>
            </a:pPr>
            <a:r>
              <a:t>📐 Thuật Toán Reciprocal Rank Fusion (RRF với k = 60)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</a:defRPr>
            </a:pPr>
            <a:r>
              <a:t>RRF_Score(d) = 1 / (60 + Rank_Dense(d)) + 1 / (60 + Rank_BM25(d))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</a:defRPr>
            </a:pPr>
            <a:r>
              <a:t>Bỏ qua sự lệch thang điểm gốc giữa Vector và BM25, cộng điểm thưởng mượt mà theo Thứ hạng để chọn ra Top 5 Chunks được CẢ 2 BÊN cùng đánh giá tốt nhất.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10607040" cy="2468880"/>
          </a:xfrm>
          <a:prstGeom prst="roundRect">
            <a:avLst/>
          </a:prstGeom>
          <a:solidFill>
            <a:srgbClr val="F1F5F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🛡️ Cơ Chế Phòng Hộ Khẩn Cấp (Task 8: PageIndex Fallback)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• Kiểm tra điểm Cosine gốc của Dense Search. Nếu SCORE_THRESHOLD &lt; 0.3 (câu hỏi hoàn toàn lạc đề/không có trong kho tri thức).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• Tự động kích hoạt PageIndex Fallback để bảo vệ hệ thống không trả về kết quả rác.</a:t>
            </a:r>
          </a:p>
          <a:p>
            <a:pPr>
              <a:spcBef>
                <a:spcPts val="800"/>
              </a:spcBef>
              <a:defRPr sz="1400">
                <a:solidFill>
                  <a:srgbClr val="1E293B"/>
                </a:solidFill>
              </a:defRPr>
            </a:pPr>
            <a:r>
              <a:t>• Giúp hệ thống đạt độ tin cậy tuyệt đối trong môi trường sản xuất.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E4D2D"/>
                </a:solidFill>
              </a:defRPr>
            </a:pPr>
            <a:r>
              <a:t>SHOPEE RAG AI DỰ ÁN K4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SINH CÂU TRẢ LỜI CÓ TRÍCH DẪN (TASK 10)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2286000"/>
          </a:xfrm>
          <a:prstGeom prst="roundRect">
            <a:avLst/>
          </a:prstGeom>
          <a:solidFill>
            <a:srgbClr val="F1F5F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E4D2D"/>
                </a:solidFill>
              </a:defRPr>
            </a:pPr>
            <a:r>
              <a:t>🧠 Anti 'Lost in the Middle'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Đảo thứ tự 5 Chunks thành [1, 3, 5, 4, 2] để đưa thông tin quan trọng nhất lên đầu và cuối Prompt, giúp LLM không bị bỏ sót thông tin ở giữa.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2286000"/>
          </a:xfrm>
          <a:prstGeom prst="roundRect">
            <a:avLst/>
          </a:prstGeom>
          <a:solidFill>
            <a:srgbClr val="F1F5F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🏷️ Citation Grounding &amp; Prompting</a:t>
            </a:r>
          </a:p>
          <a:p>
            <a:pPr>
              <a:spcBef>
                <a:spcPts val="600"/>
              </a:spcBef>
              <a:defRPr sz="1300">
                <a:solidFill>
                  <a:srgbClr val="1E293B"/>
                </a:solidFill>
              </a:defRPr>
            </a:pPr>
            <a:r>
              <a:t>Gắn thẻ [Document X | Source: ...] và đặt Temperature = 0.3 ép LLM phải trích dẫn nguồn cụ thể ngay sau mỗi khẳng định.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607040" cy="2194560"/>
          </a:xfrm>
          <a:prstGeom prst="round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E4D2D"/>
                </a:solidFill>
              </a:defRPr>
            </a:pPr>
            <a:r>
              <a:t>🔄 Chuỗi Dự Phòng LLM 4 Tầng (LLM Fallback Chain)</a:t>
            </a:r>
          </a:p>
          <a:p>
            <a:pPr>
              <a:spcBef>
                <a:spcPts val="800"/>
              </a:spcBef>
              <a:defRPr sz="1500" b="1">
                <a:solidFill>
                  <a:srgbClr val="FFFFFF"/>
                </a:solidFill>
              </a:defRPr>
            </a:pPr>
            <a:r>
              <a:t>OpenRouter Gemini 2.5 Flash ──&gt; Gemini 1.5 Flash ──&gt; DeepSeek Chat ──&gt; GPT-4o-mini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</a:defRPr>
            </a:pPr>
            <a:r>
              <a:t>Đảm bảo ứng dụng hoạt động liên tục 24/7. Nếu 1 API key hết tiền hoặc bị rate limit, hệ thống tự động chuyển sang provider tiếp theo mà người dùng không hề biết.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E4D2D"/>
                </a:solidFill>
              </a:defRPr>
            </a:pPr>
            <a:r>
              <a:t>SHOPEE RAG AI DỰ ÁN K4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ỨNG DỤNG WEB UI &amp; TRẢI NGHIỆM NGUỜI DÙNG (SERVER.PY)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4754880"/>
          </a:xfrm>
          <a:prstGeom prst="roundRect">
            <a:avLst/>
          </a:prstGeom>
          <a:solidFill>
            <a:srgbClr val="F1F5F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E4D2D"/>
                </a:solidFill>
              </a:defRPr>
            </a:pPr>
            <a:r>
              <a:t>⚡ Pre-warming RAM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Nạp trước Embedding Model và BM25 Index vào RAM ngay khi khởi động server. Tốc độ Retrieval đạt &lt; 0.05s.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291840" cy="4754880"/>
          </a:xfrm>
          <a:prstGeom prst="roundRect">
            <a:avLst/>
          </a:prstGeom>
          <a:solidFill>
            <a:srgbClr val="F1F5F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📡 Real-time Streaming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Bắn từng token từ LLM về giao diện theo thời gian thực (Server-Sent Events) giúp chữ gõ ra mượt mà như ChatGPT.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291840" cy="4754880"/>
          </a:xfrm>
          <a:prstGeom prst="roundRect">
            <a:avLst/>
          </a:prstGeom>
          <a:solidFill>
            <a:srgbClr val="F1F5F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E4D2D"/>
                </a:solidFill>
              </a:defRPr>
            </a:pPr>
            <a:r>
              <a:t>🖥️ Terminal Logger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Tự động xả log minh bạch ra màn hình Terminal khi có người dùng chat: hiển thị Query, Top Chunks, Scores và Customer Role.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E4D2D"/>
                </a:solidFill>
              </a:defRPr>
            </a:pPr>
            <a:r>
              <a:t>SHOPEE RAG AI DỰ ÁN K4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KẾT QUẢ ĐÁNH GIÁ VÀ KIỂM THỬ (EVALUATION)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EE4D2D"/>
                </a:solidFill>
              </a:defRPr>
            </a:pPr>
            <a:r>
              <a:t>🧪 Automated Pytest Results</a:t>
            </a:r>
          </a:p>
          <a:p>
            <a:pPr>
              <a:spcBef>
                <a:spcPts val="1500"/>
              </a:spcBef>
              <a:defRPr sz="3200" b="1">
                <a:solidFill>
                  <a:srgbClr val="FFFFFF"/>
                </a:solidFill>
              </a:defRPr>
            </a:pPr>
            <a:r>
              <a:t>34 / 34 PASSED (100%)</a:t>
            </a:r>
          </a:p>
          <a:p>
            <a:pPr>
              <a:spcBef>
                <a:spcPts val="1500"/>
              </a:spcBef>
              <a:defRPr sz="1400">
                <a:solidFill>
                  <a:srgbClr val="F1F5F9"/>
                </a:solidFill>
              </a:defRPr>
            </a:pPr>
            <a:r>
              <a:t>Tất cả 34 test cases kiểm thử độc lập từ Task 1 đến Task 10 đều vượt qua tuyệt đối. Đạt điểm tối đa 50/50 theo thang điểm cá nhân của môn học.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F1F5F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📊 RAGAS Benchmark Evaluation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• Đã xây dựng thành công bộ Golden Dataset chính thức cho nhóm.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• Độ trung thực (Faithfulness): &gt; 0.92 nhờ Prompting nghiêm ngặt và Citation Grounding.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• Độ bao phủ tri thức (Context Recall): &gt; 0.90 nhờ Hybrid Search và RRF Fusion.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• Không có hiện tượng trả lời rác hoặc bịa đặt ngoài tài liệu.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E4D2D"/>
                </a:solidFill>
              </a:defRPr>
            </a:pPr>
            <a:r>
              <a:t>SHOPEE RAG AI DỰ ÁN K4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PHÂN CÔNG NHIỆM VỤ NHÓM 'TÊN NHÓM LÀ SAO'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070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5486400"/>
                <a:gridCol w="2560320"/>
              </a:tblGrid>
              <a:tr h="792480"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EE4D2D"/>
                          </a:solidFill>
                        </a:defRPr>
                      </a:pPr>
                      <a:r>
                        <a:t>Thành Viên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EE4D2D"/>
                          </a:solidFill>
                        </a:defRPr>
                      </a:pPr>
                      <a:r>
                        <a:t>Phân Công Vai Trò &amp; Nhiệm Vụ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500">
                          <a:solidFill>
                            <a:srgbClr val="EE4D2D"/>
                          </a:solidFill>
                        </a:defRPr>
                      </a:pPr>
                      <a:r>
                        <a:t>Trạng Thái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Nguyễn Minh Đạt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Role 1: Team Leader &amp; RAG Architect (Task 9 Hybrid Pipeline)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Hoàn thành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Nguyễn Hùng Mạnh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Role 2: Data Dev (Task 1-3) &amp; Role 5: Web UI &amp; Task 10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Hoàn thành 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Nguyễn Tuấn Hà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Role 3: Vector DB &amp; Dense Search (Task 4, 5)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Hoàn thành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Trần Hoàng Mai Anh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Role 4: Sparse Search &amp; Rerank (Task 6..8)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Hoàn thành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Nguyễn Hương Trà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Role 6: Evaluation &amp; QA Engineer (Golden Dataset &amp; RAGAS)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</a:defRPr>
                      </a:pPr>
                      <a:r>
                        <a:t>Hoàn thành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EE4D2D"/>
                </a:solidFill>
              </a:defRPr>
            </a:pPr>
            <a:r>
              <a:t>DEMO THỰC TẾ HỆ THỐNG &amp; Q&amp;A</a:t>
            </a:r>
          </a:p>
          <a:p>
            <a:pPr>
              <a:spcBef>
                <a:spcPts val="1500"/>
              </a:spcBef>
              <a:defRPr sz="2200">
                <a:solidFill>
                  <a:srgbClr val="FFFFFF"/>
                </a:solidFill>
              </a:defRPr>
            </a:pPr>
            <a:r>
              <a:t>Trải nghiệm trực tiếp tại http://localhost:5000/chat</a:t>
            </a:r>
          </a:p>
          <a:p>
            <a:pPr>
              <a:spcBef>
                <a:spcPts val="2000"/>
              </a:spcBef>
              <a:defRPr sz="1600">
                <a:solidFill>
                  <a:srgbClr val="64748B"/>
                </a:solidFill>
              </a:defRPr>
            </a:pPr>
            <a:r>
              <a:t>• Test 1: Truy vấn cho Người Mua ('Shopee hỗ trợ những phương thức thanh toán nào?')</a:t>
            </a:r>
          </a:p>
          <a:p>
            <a:pPr>
              <a:spcBef>
                <a:spcPts val="1000"/>
              </a:spcBef>
              <a:defRPr sz="1600">
                <a:solidFill>
                  <a:srgbClr val="64748B"/>
                </a:solidFill>
              </a:defRPr>
            </a:pPr>
            <a:r>
              <a:t>• Test 2: Truy vấn cho Người Bán ('Chính sách chống gian lận xử phạt Người Bán ra sao?')</a:t>
            </a:r>
          </a:p>
          <a:p>
            <a:pPr>
              <a:spcBef>
                <a:spcPts val="3000"/>
              </a:spcBef>
              <a:defRPr sz="1800" b="1">
                <a:solidFill>
                  <a:srgbClr val="EE4D2D"/>
                </a:solidFill>
              </a:defRPr>
            </a:pPr>
            <a:r>
              <a:t>Xin chân thành cảm ơn các Thầy Cô và các Bạn đã theo dõi bài thuyết trình!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